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2560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AI-12 ·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CB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Don't read 100 papers.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ECB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 all of them in minutes.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029200" cy="27432"/>
          </a:xfrm>
          <a:prstGeom prst="rect">
            <a:avLst/>
          </a:prstGeom>
          <a:solidFill>
            <a:srgbClr val="009E85"/>
          </a:solidFill>
          <a:ln w="12700">
            <a:solidFill>
              <a:srgbClr val="009E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</a:rPr>
              <a:t>TEAM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Mehak Sayed   ·   Vageesh S M   ·   Khushi Kapali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🔗 LIVE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D8"/>
                </a:solidFill>
              </a:rPr>
              <a:t>data-flow-hub--kapalikhushi8.replit.app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005840"/>
            <a:ext cx="1828800" cy="109728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94%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4944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BD8"/>
                </a:solidFill>
              </a:rPr>
              <a:t>Accuracy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331720"/>
            <a:ext cx="1828800" cy="109728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460K+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4944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BD8"/>
                </a:solidFill>
              </a:rPr>
              <a:t>Training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3657600"/>
            <a:ext cx="1828800" cy="109728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4944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BD8"/>
                </a:solidFill>
              </a:rPr>
              <a:t>Relation Types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Built on Replit · SciBERT · FastAPI · MongoDB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Research is Broken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0116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E845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2011680" cy="109728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35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4545"/>
                </a:solidFill>
              </a:rPr>
              <a:t>60–80%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01168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of research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spent reading instead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of discovering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20116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34440"/>
            <a:ext cx="2011680" cy="1097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35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3E8"/>
                </a:solidFill>
              </a:rPr>
              <a:t>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14600" y="2331720"/>
            <a:ext cx="201168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widely-used AI 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for auto conflict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20116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34440"/>
            <a:ext cx="20116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35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∞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201168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contradictions 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unnoticed across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concurrent studies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1234440"/>
            <a:ext cx="2011680" cy="3108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234440"/>
            <a:ext cx="201168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4356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</a:rPr>
              <a:t>Weeks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812280" y="2331720"/>
            <a:ext cx="201168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wasted on manual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literature review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can do in minutes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8412480" cy="475488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3A6E"/>
                </a:solidFill>
              </a:rPr>
              <a:t>"Contradictions between studies often go unnoticed for years — leading to flawed research built on wrong foundations."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D52"/>
          </a:solidFill>
          <a:ln w="12700">
            <a:solidFill>
              <a:srgbClr val="11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5-Module AI Pipeline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536192" cy="141732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52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</a:rPr>
              <a:t>INGEST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153619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PDF 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&amp; Extraction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01952" y="1700784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078992"/>
            <a:ext cx="1536192" cy="141732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84832" y="1152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84832" y="15910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</a:rPr>
              <a:t>EMBED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1856232"/>
            <a:ext cx="153619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SciBERT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Embeddings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21024" y="1700784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03904" y="1078992"/>
            <a:ext cx="1536192" cy="141732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03904" y="1152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15910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</a:rPr>
              <a:t>DETECT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03904" y="1856232"/>
            <a:ext cx="153619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NLI Conflict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0096" y="1700784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22976" y="1078992"/>
            <a:ext cx="1536192" cy="141732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22976" y="1152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22976" y="15910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</a:rPr>
              <a:t>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22976" y="1856232"/>
            <a:ext cx="153619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Auto Literature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59168" y="1700784"/>
            <a:ext cx="1828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2048" y="1078992"/>
            <a:ext cx="1536192" cy="1417320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42048" y="115214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🕸️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42048" y="15910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</a:rPr>
              <a:t>GRAPH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42048" y="1856232"/>
            <a:ext cx="153619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Citation 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Viz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26700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</a:rPr>
              <a:t>LIVE EXAMPLES FROM OUR MODEL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999232"/>
            <a:ext cx="4114800" cy="1920240"/>
          </a:xfrm>
          <a:prstGeom prst="rect">
            <a:avLst/>
          </a:prstGeom>
          <a:solidFill>
            <a:srgbClr val="112D52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999232"/>
            <a:ext cx="41148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 AGREE   88.0%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P: "BERT: Pre-training of Deep Bidirectional Transformers"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H: "Scaling Laws for Neural Language Models"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Both papers demonstrate consistent findings regarding robustness.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999232"/>
            <a:ext cx="4114800" cy="1920240"/>
          </a:xfrm>
          <a:prstGeom prst="rect">
            <a:avLst/>
          </a:prstGeom>
          <a:solidFill>
            <a:srgbClr val="112D52"/>
          </a:solidFill>
          <a:ln w="25400">
            <a:solidFill>
              <a:srgbClr val="E845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999232"/>
            <a:ext cx="4114800" cy="9144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45"/>
                </a:solidFill>
              </a:rPr>
              <a:t>❌  CONTRADICT   94.0%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P: "BERT: Pre-training of Deep Bidirectional Transformers"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H: "Playing Atari with Deep Reinforcement Learning"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Conflicting generalization claims across benchmark tasks.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D52"/>
          </a:solidFill>
          <a:ln w="12700">
            <a:solidFill>
              <a:srgbClr val="11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COMMAND CENTER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Intelligence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⬤  ⬤  ⬤   ReSEARCH — Command Center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645920" cy="342900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44752"/>
            <a:ext cx="1645920" cy="402336"/>
          </a:xfrm>
          <a:prstGeom prst="rect">
            <a:avLst/>
          </a:prstGeom>
          <a:solidFill>
            <a:srgbClr val="112D5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81328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📊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📥 Ingest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⚔️ Detect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📝 Review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9584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🕸️ Graph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</a:rPr>
              <a:t>💬 Interrogate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1536192"/>
            <a:ext cx="1463040" cy="749808"/>
          </a:xfrm>
          <a:prstGeom prst="rect">
            <a:avLst/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5727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</a:rPr>
              <a:t>460K+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8600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Training Records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86200" y="1536192"/>
            <a:ext cx="1463040" cy="749808"/>
          </a:xfrm>
          <a:prstGeom prst="rect">
            <a:avLst/>
          </a:prstGeom>
          <a:solidFill>
            <a:srgbClr val="112D5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15727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94%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8620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Model Accuracy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536192"/>
            <a:ext cx="1463040" cy="749808"/>
          </a:xfrm>
          <a:prstGeom prst="rect">
            <a:avLst/>
          </a:prstGeom>
          <a:solidFill>
            <a:srgbClr val="112D5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5727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Relation Classes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1536192"/>
            <a:ext cx="1463040" cy="749808"/>
          </a:xfrm>
          <a:prstGeom prst="rect">
            <a:avLst/>
          </a:prstGeom>
          <a:solidFill>
            <a:srgbClr val="112D52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15727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73E8"/>
                </a:solidFill>
              </a:rPr>
              <a:t>LIVE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86600" y="2011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System Status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94560" y="248716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12D52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Live Stats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0" y="248716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12D5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2487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AGREE / CONTRADICT Filters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94560" y="37490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12D5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Auto Literature Review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374904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12D52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</a:rPr>
              <a:t>Thematic Clusters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2907792"/>
            <a:ext cx="6217920" cy="713232"/>
          </a:xfrm>
          <a:prstGeom prst="rect">
            <a:avLst/>
          </a:prstGeom>
          <a:solidFill>
            <a:srgbClr val="071828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294436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█▄▄█▄████▄█▄██▄█▄▄█▄▄██▄███▄██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331720" y="3419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Relation confidence timeline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INGEST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45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</a:rPr>
              <a:t>CITATION GRAPH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Multi-PDF Ingestion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365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Live Citation Network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26280" y="914400"/>
            <a:ext cx="45720" cy="4023360"/>
          </a:xfrm>
          <a:prstGeom prst="rect">
            <a:avLst/>
          </a:prstGeom>
          <a:solidFill>
            <a:srgbClr val="CDD8E3"/>
          </a:solidFill>
          <a:ln w="12700">
            <a:solidFill>
              <a:srgbClr val="CDD8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15568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070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87552" y="120700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Drag &amp; drop PDFs or CSV seed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011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552" y="20116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Initialize Seed Data from your own dataset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163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281635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Extract title, abstract, authors, year, keywords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6210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62102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</a:rPr>
              <a:t>Right panel: live corpus list with relation count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2194560"/>
            <a:ext cx="-896112" cy="731520"/>
          </a:xfrm>
          <a:prstGeom prst="line">
            <a:avLst/>
          </a:prstGeom>
          <a:noFill/>
          <a:ln w="19050">
            <a:solidFill>
              <a:srgbClr val="2DB3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8272" y="2194560"/>
            <a:ext cx="841248" cy="548640"/>
          </a:xfrm>
          <a:prstGeom prst="line">
            <a:avLst/>
          </a:prstGeom>
          <a:noFill/>
          <a:ln w="19050">
            <a:solidFill>
              <a:srgbClr val="E84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2194560"/>
            <a:ext cx="-347472" cy="1554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926080"/>
            <a:ext cx="548640" cy="822960"/>
          </a:xfrm>
          <a:prstGeom prst="line">
            <a:avLst/>
          </a:prstGeom>
          <a:noFill/>
          <a:ln w="19050">
            <a:solidFill>
              <a:srgbClr val="2DB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2743200"/>
            <a:ext cx="274320" cy="1097280"/>
          </a:xfrm>
          <a:prstGeom prst="line">
            <a:avLst/>
          </a:prstGeom>
          <a:noFill/>
          <a:ln w="19050">
            <a:solidFill>
              <a:srgbClr val="2DB3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2926080"/>
            <a:ext cx="-274320" cy="118872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1938528"/>
            <a:ext cx="512064" cy="51206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50992" y="2724912"/>
            <a:ext cx="402336" cy="40233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88352" y="2542032"/>
            <a:ext cx="402336" cy="402336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36208" y="358444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99248" y="3675888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9248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3977640"/>
            <a:ext cx="274320" cy="2743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45720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AGREE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4572000"/>
            <a:ext cx="146304" cy="146304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CONFLICT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98080" y="457200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NEUTRAL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D52"/>
          </a:solidFill>
          <a:ln w="12700">
            <a:solidFill>
              <a:srgbClr val="11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INTERROGATE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Cross-Paper AI Q&amp;A Interface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560320" cy="2011680"/>
          </a:xfrm>
          <a:prstGeom prst="rect">
            <a:avLst/>
          </a:prstGeom>
          <a:solidFill>
            <a:srgbClr val="0E224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56032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</a:rPr>
              <a:t>01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SELECT CORPUS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256032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BD8"/>
                </a:solidFill>
              </a:rPr>
              <a:t>Choose which papers to include in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560320" cy="2011680"/>
          </a:xfrm>
          <a:prstGeom prst="rect">
            <a:avLst/>
          </a:prstGeom>
          <a:solidFill>
            <a:srgbClr val="0E2240"/>
          </a:solidFill>
          <a:ln w="2540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56032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3E8"/>
                </a:solidFill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1856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ASK ANYTHING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67128"/>
            <a:ext cx="256032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BD8"/>
                </a:solidFill>
              </a:rPr>
              <a:t>Natural language queries across all selected papers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560320" cy="2011680"/>
          </a:xfrm>
          <a:prstGeom prst="rect">
            <a:avLst/>
          </a:prstGeom>
          <a:solidFill>
            <a:srgbClr val="0E2240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51560"/>
            <a:ext cx="256032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</a:rPr>
              <a:t>03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035040" y="1856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GET SYNTHESIS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167128"/>
            <a:ext cx="256032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BD8"/>
                </a:solidFill>
              </a:rPr>
              <a:t>AI returns structured answer with paper sources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8412480" cy="1664208"/>
          </a:xfrm>
          <a:prstGeom prst="rect">
            <a:avLst/>
          </a:prstGeom>
          <a:solidFill>
            <a:srgbClr val="091828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55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💬  INTERROGATE — AI Knowledge Retrieval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3657600" cy="310896"/>
          </a:xfrm>
          <a:prstGeom prst="roundRect">
            <a:avLst>
              <a:gd name="adj" fmla="val 14706"/>
            </a:avLst>
          </a:prstGeom>
          <a:solidFill>
            <a:srgbClr val="112D52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57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D8"/>
                </a:solidFill>
              </a:rPr>
              <a:t>❓  What are the main contradictions?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050792"/>
            <a:ext cx="3657600" cy="310896"/>
          </a:xfrm>
          <a:prstGeom prst="roundRect">
            <a:avLst>
              <a:gd name="adj" fmla="val 14706"/>
            </a:avLst>
          </a:prstGeom>
          <a:solidFill>
            <a:srgbClr val="112D52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507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D8"/>
                </a:solidFill>
              </a:rPr>
              <a:t>❓  Summarize consensus across papers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43984"/>
            <a:ext cx="3657600" cy="310896"/>
          </a:xfrm>
          <a:prstGeom prst="roundRect">
            <a:avLst>
              <a:gd name="adj" fmla="val 14706"/>
            </a:avLst>
          </a:prstGeom>
          <a:solidFill>
            <a:srgbClr val="112D52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439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D8"/>
                </a:solidFill>
              </a:rPr>
              <a:t>❓  Identify methodology flaws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3657600"/>
            <a:ext cx="4023360" cy="1115568"/>
          </a:xfrm>
          <a:prstGeom prst="roundRect">
            <a:avLst>
              <a:gd name="adj" fmla="val 4098"/>
            </a:avLst>
          </a:prstGeom>
          <a:solidFill>
            <a:srgbClr val="0A28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AI Response: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96849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Based on papers P1, P3 &amp; P7: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Paper P3 contradicts P1's claim on scaling behavior with 94% confidence. P7 supports P1's findings on attention mechanisms.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DATASET &amp;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SciBERT NLI — 94% Accuracy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93392" cy="1481328"/>
          </a:xfrm>
          <a:prstGeom prst="rect">
            <a:avLst/>
          </a:prstGeom>
          <a:solidFill>
            <a:srgbClr val="FFFFFF"/>
          </a:solidFill>
          <a:ln w="3175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993392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</a:rPr>
              <a:t>MultiNLI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4081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433,000+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74320" y="1938528"/>
            <a:ext cx="199339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General NLI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backbone 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1993392" cy="1481328"/>
          </a:xfrm>
          <a:prstGeom prst="rect">
            <a:avLst/>
          </a:prstGeom>
          <a:solidFill>
            <a:srgbClr val="FFFFFF"/>
          </a:solidFill>
          <a:ln w="317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05840"/>
            <a:ext cx="1993392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1430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SciTail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4081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27,000+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450592" y="1938528"/>
            <a:ext cx="199339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Science-domain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NLI fine-tuning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1993392" cy="1481328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05840"/>
            <a:ext cx="199339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1430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Custom CSV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4081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500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626864" y="1938528"/>
            <a:ext cx="199339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AI research papers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with relations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1993392" cy="1481328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05840"/>
            <a:ext cx="199339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1430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TOTAL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140817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A"/>
                </a:solidFill>
              </a:rPr>
              <a:t>460,000+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803136" y="1938528"/>
            <a:ext cx="199339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Merged, shuffled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9A"/>
                </a:solidFill>
              </a:rPr>
              <a:t>80K train / 8K val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4937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</a:rPr>
              <a:t>MODEL CONFIGURATION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8308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allenai/scibert_scivocab_uncased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3374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Task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308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Sequence Classification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3694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Classes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783080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AGREE · CONTRADICT · NEUTRAL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4014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Batch Size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78308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32  |  Max Length: 128 tokens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4048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Epochs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783080" y="4334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4  |  LR: 2e-5  |  Seed: 42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4654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Optimizer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83080" y="4654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</a:rPr>
              <a:t>AdamW + Linear Warmup Scheduler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40680" y="2651760"/>
            <a:ext cx="3383280" cy="2286000"/>
          </a:xfrm>
          <a:prstGeom prst="rect">
            <a:avLst/>
          </a:prstGeom>
          <a:solidFill>
            <a:srgbClr val="0B1F3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32120" y="2724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32120" y="29992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A7"/>
                </a:solidFill>
              </a:rPr>
              <a:t>94%</a:t>
            </a:r>
            <a:endParaRPr lang="en-US" sz="5200" dirty="0"/>
          </a:p>
        </p:txBody>
      </p:sp>
      <p:sp>
        <p:nvSpPr>
          <p:cNvPr id="43" name="Text 41"/>
          <p:cNvSpPr/>
          <p:nvPr/>
        </p:nvSpPr>
        <p:spPr>
          <a:xfrm>
            <a:off x="5532120" y="3712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BD8"/>
                </a:solidFill>
              </a:rPr>
              <a:t>Validation Accuracy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32120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AGREE F1: 95.5%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78040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545"/>
                </a:solidFill>
              </a:rPr>
              <a:t>CONTRADICT F1: 93.3%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32120" y="4297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NEUTRAL F1: 95.1%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78040" y="4297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Macro F1: 94.6%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 Core Capabilities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6974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26974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43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Multi-PDF Ingestion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269748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Upload up to 20 PDFs simultaneously. Extract title, abstract, authors, year, and keywords automatically.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1005840"/>
            <a:ext cx="26974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E845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005840"/>
            <a:ext cx="2697480" cy="9144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143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73552" y="1627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Conflict Detection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73552" y="1956816"/>
            <a:ext cx="269748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SciBERT NLI classifies every paper-pair as AGREE / CONTRADICT / NEUTRAL with confidence scores.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9632" y="1005840"/>
            <a:ext cx="26974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005840"/>
            <a:ext cx="269748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143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99632" y="1627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Literature Review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99632" y="1956816"/>
            <a:ext cx="269748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Auto-generate publication-ready reviews with thematic grouping and research gap identification.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017520"/>
            <a:ext cx="26974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017520"/>
            <a:ext cx="26974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54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7472" y="36393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Cross-Paper Q&amp;A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7472" y="3968496"/>
            <a:ext cx="269748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Ask natural language questions across all selected papers — get sourced, structured answers instantly.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73552" y="3017520"/>
            <a:ext cx="26974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73552" y="301752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154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🕸️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73552" y="36393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Citation Graph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273552" y="3968496"/>
            <a:ext cx="269748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Interactive D3.js force graph with colored edges, zoom, filter, and node drill-down panel.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3017520"/>
            <a:ext cx="26974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3017520"/>
            <a:ext cx="269748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154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99632" y="36393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Confidence Scoring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99632" y="3968496"/>
            <a:ext cx="2697480" cy="8046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Every detected relation includes an 80–98% confidence score with key evidence sentence.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2D52"/>
          </a:solidFill>
          <a:ln w="12700">
            <a:solidFill>
              <a:srgbClr val="11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With Production-Grade Tools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011680" cy="3913632"/>
          </a:xfrm>
          <a:prstGeom prst="rect">
            <a:avLst/>
          </a:prstGeom>
          <a:solidFill>
            <a:srgbClr val="0E224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201168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33856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🧠 AI / NLP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" y="1536192"/>
            <a:ext cx="173736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6420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68249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SciBERT (allenai)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194560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HuggingFace Transformers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706624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PyTorch 2.0+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18688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Sentence-Transformers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FAISS Vector 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24281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87168" y="1005840"/>
            <a:ext cx="2011680" cy="3913632"/>
          </a:xfrm>
          <a:prstGeom prst="rect">
            <a:avLst/>
          </a:prstGeom>
          <a:solidFill>
            <a:srgbClr val="0E2240"/>
          </a:solidFill>
          <a:ln w="2540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87168" y="1005840"/>
            <a:ext cx="201168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1133856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</a:rPr>
              <a:t>⚙️ Backend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24328" y="1536192"/>
            <a:ext cx="1737360" cy="274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96896" y="166420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68249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FastAPI (Python)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96896" y="2176272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2194560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MongoDB Atlas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96896" y="2688336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706624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PyMuPDF / pdfplumber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96896" y="3200400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218688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NetworkX Graph Engine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96896" y="3712464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Server-Sent Events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96896" y="422452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424281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REST API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26864" y="1005840"/>
            <a:ext cx="2011680" cy="3913632"/>
          </a:xfrm>
          <a:prstGeom prst="rect">
            <a:avLst/>
          </a:prstGeom>
          <a:solidFill>
            <a:srgbClr val="0E22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100584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1133856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🎨 Frontend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64024" y="1536192"/>
            <a:ext cx="1737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36592" y="166420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168249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React / Next.js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36592" y="2176272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2194560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D3.js Force Graph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36592" y="2688336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2706624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Consolas / Monospace UI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36592" y="3200400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218688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Custom CSS Variables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36592" y="3712464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Responsive Design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36592" y="422452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424281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Real-time Updates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1005840"/>
            <a:ext cx="2011680" cy="3913632"/>
          </a:xfrm>
          <a:prstGeom prst="rect">
            <a:avLst/>
          </a:prstGeom>
          <a:solidFill>
            <a:srgbClr val="0E2240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66560" y="1005840"/>
            <a:ext cx="20116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1133856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🚀 Deployment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903720" y="1536192"/>
            <a:ext cx="173736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76288" y="166420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168249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Replit (Live Demo)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76288" y="2176272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2194560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MongoDB Atlas Cloud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76288" y="2688336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31152" y="2706624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Google Colab (Training)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76288" y="3200400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31152" y="3218688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GitHub Repository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76288" y="3712464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31152" y="3730752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REST + SSE APIs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76288" y="4224528"/>
            <a:ext cx="1792224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152" y="4242816"/>
            <a:ext cx="16824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D8"/>
                </a:solidFill>
              </a:rPr>
              <a:t>ENV Config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2D52"/>
          </a:solidFill>
          <a:ln w="12700">
            <a:solidFill>
              <a:srgbClr val="11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</a:rPr>
              <a:t>IMPACT · FUTURE ·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ReSEARCH Delivers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2834640"/>
          </a:xfrm>
          <a:prstGeom prst="rect">
            <a:avLst/>
          </a:prstGeom>
          <a:solidFill>
            <a:srgbClr val="0E2240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⚡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Weeks of reading → minutes of synthesis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Surfaces hidden contradictions automatically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Interactive citation network for any corpus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Helps institutions map knowledge gaps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Supports students entering new fields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Foundation for AI-powered peer review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2834640"/>
          </a:xfrm>
          <a:prstGeom prst="rect">
            <a:avLst/>
          </a:prstGeom>
          <a:solidFill>
            <a:srgbClr val="0E2240"/>
          </a:solidFill>
          <a:ln w="2540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</a:rPr>
              <a:t>🔭 FUTURE SCOPE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ArXiv + PubMed real-time ingestion APIs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1865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Multi-hop reasoning across 3+ papers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249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LLM-powered Q&amp;A (GPT / LLaMA)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633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Automated conflict alert for new papers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Multilingual BERT for global research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AECBD8"/>
                </a:solidFill>
              </a:rPr>
              <a:t>Domain fine-tuning: medicine, law, climate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005072"/>
            <a:ext cx="9144000" cy="1143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0B1F3A"/>
                </a:solidFill>
              </a:rPr>
              <a:t>ReSEARCH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4462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1F3A"/>
                </a:solidFill>
              </a:rPr>
              <a:t>"Read Less. Discover More."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069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12D52"/>
                </a:solidFill>
              </a:rPr>
              <a:t>94% Accuracy  ·  460K+ Training Records  ·  Live on Replit  ·  SciBERT NLI  ·  FastAPI + MongoDB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Mehak Sayed   ·   Vageesh S M   ·   Khushi Kapali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74720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12D52"/>
                </a:solidFill>
              </a:rPr>
              <a:t>🔗 data-flow-hub--kapalikhushi8.replit.app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— AI Hackathon</dc:title>
  <dc:subject>PptxGenJS Presentation</dc:subject>
  <dc:creator>PptxGenJS</dc:creator>
  <cp:lastModifiedBy>PptxGenJS</cp:lastModifiedBy>
  <cp:revision>1</cp:revision>
  <dcterms:created xsi:type="dcterms:W3CDTF">2026-05-06T03:41:22Z</dcterms:created>
  <dcterms:modified xsi:type="dcterms:W3CDTF">2026-05-06T03:41:22Z</dcterms:modified>
</cp:coreProperties>
</file>